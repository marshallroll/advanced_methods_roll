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4"/>
  </p:sldMasterIdLst>
  <p:notesMasterIdLst>
    <p:notesMasterId r:id="rId11"/>
  </p:notesMasterIdLst>
  <p:handoutMasterIdLst>
    <p:handoutMasterId r:id="rId12"/>
  </p:handoutMasterIdLst>
  <p:sldIdLst>
    <p:sldId id="1519" r:id="rId5"/>
    <p:sldId id="1522" r:id="rId6"/>
    <p:sldId id="1520" r:id="rId7"/>
    <p:sldId id="1526" r:id="rId8"/>
    <p:sldId id="1521" r:id="rId9"/>
    <p:sldId id="152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AA383-4B97-92CB-B908-3EAF3589B59E}" v="6" dt="2025-04-02T15:51:59.125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30"/>
  </p:normalViewPr>
  <p:slideViewPr>
    <p:cSldViewPr snapToGrid="0">
      <p:cViewPr varScale="1">
        <p:scale>
          <a:sx n="64" d="100"/>
          <a:sy n="64" d="100"/>
        </p:scale>
        <p:origin x="34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375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8A5B-5EB3-C16C-E3CB-45F8A198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15C1D-AEB9-2953-ED97-835F8B2BE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89313-157F-462C-9C52-5EDBA2904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6F5B3-4143-69B0-7055-0C34B175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18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fld id="{D975B2AB-B1B0-9D4B-B2A8-A5151114B019}" type="datetime1">
              <a:rPr lang="en-US" smtClean="0"/>
              <a:pPr/>
              <a:t>2/28/2026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fld id="{94701BC7-7095-6A42-BCA0-E1E7A2BF1A8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fld id="{8F528A8F-6E66-6041-838C-24B654F56D99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B934-A7B2-524D-BFEC-F77CDECEE6E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4637-5A31-8644-BF75-15F39C94EBA3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779721"/>
            <a:ext cx="8467558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449473"/>
            <a:ext cx="8467558" cy="3689909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228600" indent="0" algn="ctr">
              <a:buFont typeface="Arial" panose="020B0604020202020204" pitchFamily="34" charset="0"/>
              <a:buNone/>
              <a:defRPr sz="1800"/>
            </a:lvl2pPr>
            <a:lvl3pPr marL="457200" indent="0" algn="ctr">
              <a:buFont typeface="Arial" panose="020B0604020202020204" pitchFamily="34" charset="0"/>
              <a:buNone/>
              <a:defRPr sz="1800"/>
            </a:lvl3pPr>
            <a:lvl4pPr marL="685800" indent="0" algn="ctr">
              <a:buFont typeface="Arial" panose="020B0604020202020204" pitchFamily="34" charset="0"/>
              <a:buNone/>
              <a:defRPr sz="1800"/>
            </a:lvl4pPr>
            <a:lvl5pPr marL="914400" indent="0" algn="ctr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5" y="525786"/>
            <a:ext cx="1828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fld id="{6DCA0909-C965-B345-8649-8376ABAE122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1800" i="1"/>
            </a:lvl1pPr>
            <a:lvl2pPr marL="228600" indent="0">
              <a:buFont typeface="+mj-lt"/>
              <a:buNone/>
              <a:defRPr sz="18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0556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3602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1398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" y="63703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4050792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0" y="478810"/>
            <a:ext cx="6680364" cy="1525849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4AD165-8B01-3E43-98A9-F808A95BF71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79" y="3263808"/>
            <a:ext cx="6680363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BAA6-3631-B64B-B6F3-DEE7E050D639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B764-AD22-0F4B-BAE3-44995569C23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D8DF-7269-644C-8396-989AFC27656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4EE2-E508-0343-ABC3-FD891EA966E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fld id="{F81006CB-6D12-D648-BDFF-45946122B114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fld id="{FB67AB3A-5619-724F-B943-9D34281EA5B9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fld id="{2CB12418-D22D-2F49-B8DF-8F0D06316D0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fld id="{F7B9797D-0A11-3F4C-A8F9-4C3CFB1C346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67771A41-C848-E64D-A3E7-2C2268336902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fld id="{63444354-EB0C-0749-879A-AC72746606D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ADFB106D-E2A4-BA42-83CB-236864574A5E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fld id="{A0A3A3CB-42B5-F943-9B44-CE40D69043B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F9F10B6-86E2-C342-8351-96AAFAF25FE3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fld id="{0D631071-5303-6A4D-961A-95A03CA52AB9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5BC5750-3890-C849-A097-7836C504B37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fld id="{0573F55D-F102-EB4C-8110-ACB83A574214}" type="datetime1">
              <a:rPr lang="en-US" smtClean="0"/>
              <a:t>2/28/2026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B61FA28-EB8E-6842-A6BE-E9D79E274AF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fld id="{B598246D-3750-4C49-B8B5-B7C47928A50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CE3C4F-0F80-AC4E-AA58-72E64271713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C4AD5-8F1C-044F-83F2-1AB471B11726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fld id="{E61C2A3D-65D3-8945-A127-64FDB177BE9F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fld id="{E816DA63-B925-2449-B364-722E4572D80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F52567-8570-6C44-9BA2-689163175DC8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1524" y="0"/>
            <a:ext cx="12190476" cy="4493520"/>
            <a:chOff x="1524" y="0"/>
            <a:chExt cx="12190476" cy="44935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2630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44935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0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23E50FD4-EFCB-974E-B2DD-5523215BAC6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fld id="{1595A37D-65ED-114E-8FC3-F225419ED192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fld id="{93B8BCF5-A830-B246-A761-733CD2DDC55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D9E2AEEA-8DAA-A54C-8566-EFF7C409754A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7561-8B56-7D4A-9D45-53325F938A9C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934B-D27D-944F-A2F7-A09FCF6E6C41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FD22486-8423-2C44-89AB-B87B16F989B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54EC-538B-EF40-B690-05585CC88731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3678ED03-48B7-A743-8DD2-7FFA62A0AF1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fld id="{B757F186-BC5C-E049-9BED-C879FF838727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13408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1D37-71A0-6247-B4F9-89AB56FCB9F0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219F6FE5-28DC-924E-B335-9F73F02FD9E9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A69F012-8801-654E-BA91-4385C1A34D05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031AE-DA09-E546-8A91-03FDF50474E1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B5AC1EE3-8DAF-B14B-BBB9-F51C019514E2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288866C-ADAB-8347-AC3F-C68495CA516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200400"/>
            <a:ext cx="10890374" cy="27432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8CE3BE77-9432-6A4B-8CAB-C566A7B21CF4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184202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fld id="{B1C93994-1E2D-3543-BD77-44FCFB71CAFD}" type="datetime1">
              <a:rPr lang="en-US" smtClean="0"/>
              <a:t>2/28/2026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3784036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D16B9168-F6EC-AA44-B1F6-76306FA4BF2D}" type="datetime1">
              <a:rPr lang="en-US" smtClean="0"/>
              <a:pPr/>
              <a:t>2/28/2026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</p:sldLayoutIdLst>
  <p:hf sldNum="0"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B7006-F452-AE5A-DF0E-684DACC6A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595" y="1288233"/>
            <a:ext cx="10876810" cy="2466202"/>
          </a:xfrm>
        </p:spPr>
        <p:txBody>
          <a:bodyPr/>
          <a:lstStyle/>
          <a:p>
            <a:r>
              <a:rPr lang="en-US" sz="4800" b="1" dirty="0">
                <a:latin typeface="Aptos" panose="020B0004020202020204" pitchFamily="34" charset="0"/>
              </a:rPr>
              <a:t>Evaluation of Treatment Efficacy Among Hard-Drug Using HIV Patients Receiving Highly Active Antiretroviral Therapy (HAART)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8AC6CA-478E-C9E1-D6DD-17E204C12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2719" y="5071375"/>
            <a:ext cx="2579950" cy="1188720"/>
          </a:xfrm>
        </p:spPr>
        <p:txBody>
          <a:bodyPr>
            <a:normAutofit fontScale="85000" lnSpcReduction="20000"/>
          </a:bodyPr>
          <a:lstStyle/>
          <a:p>
            <a:r>
              <a:rPr lang="en-US" sz="3600" i="0" dirty="0">
                <a:latin typeface="Aptos" panose="020B0004020202020204" pitchFamily="34" charset="0"/>
              </a:rPr>
              <a:t>Marshall Roll</a:t>
            </a:r>
          </a:p>
          <a:p>
            <a:r>
              <a:rPr lang="en-US" sz="3600" i="0" dirty="0">
                <a:latin typeface="Aptos" panose="020B0004020202020204" pitchFamily="34" charset="0"/>
              </a:rPr>
              <a:t>3/2/25</a:t>
            </a:r>
          </a:p>
        </p:txBody>
      </p:sp>
    </p:spTree>
    <p:extLst>
      <p:ext uri="{BB962C8B-B14F-4D97-AF65-F5344CB8AC3E}">
        <p14:creationId xmlns:p14="http://schemas.microsoft.com/office/powerpoint/2010/main" val="203974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6E32-87FC-168E-D942-0EDA1EB5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48469-3BCA-0223-72F9-7A0973F95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932606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Data: </a:t>
            </a:r>
            <a:r>
              <a:rPr lang="en-US" sz="2000" dirty="0">
                <a:latin typeface="Aptos" panose="020B0004020202020204" pitchFamily="34" charset="0"/>
              </a:rPr>
              <a:t>463 HIV-positive individuals receiving highly active antiretroviral therapy (HAART) with complete outcome and baseline covariate data, sourced from Multicenter AIDS Cohort Study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buAutoNum type="arabicParenR"/>
            </a:pPr>
            <a:r>
              <a:rPr lang="en-US" sz="2000" dirty="0">
                <a:latin typeface="Aptos" panose="020B0004020202020204" pitchFamily="34" charset="0"/>
              </a:rPr>
              <a:t>Difference in </a:t>
            </a:r>
            <a:r>
              <a:rPr lang="en-US" sz="2000" b="1" dirty="0">
                <a:latin typeface="Aptos" panose="020B0004020202020204" pitchFamily="34" charset="0"/>
              </a:rPr>
              <a:t>effect of hard drug use </a:t>
            </a:r>
            <a:r>
              <a:rPr lang="en-US" sz="2000" dirty="0">
                <a:latin typeface="Aptos" panose="020B0004020202020204" pitchFamily="34" charset="0"/>
              </a:rPr>
              <a:t>on </a:t>
            </a:r>
            <a:r>
              <a:rPr lang="en-US" sz="2000" b="1" dirty="0">
                <a:latin typeface="Aptos" panose="020B0004020202020204" pitchFamily="34" charset="0"/>
              </a:rPr>
              <a:t>lab-based outcomes </a:t>
            </a:r>
            <a:r>
              <a:rPr lang="en-US" sz="2000" dirty="0">
                <a:latin typeface="Aptos" panose="020B0004020202020204" pitchFamily="34" charset="0"/>
              </a:rPr>
              <a:t>(log10 viral load &amp; CD4+ T-cell count) and </a:t>
            </a:r>
            <a:r>
              <a:rPr lang="en-US" sz="2000" b="1" dirty="0">
                <a:latin typeface="Aptos" panose="020B0004020202020204" pitchFamily="34" charset="0"/>
              </a:rPr>
              <a:t>survey-based outcomes </a:t>
            </a:r>
            <a:r>
              <a:rPr lang="en-US" sz="2000" dirty="0">
                <a:latin typeface="Aptos" panose="020B0004020202020204" pitchFamily="34" charset="0"/>
              </a:rPr>
              <a:t>(SF-36 Physical &amp; Mental Component Scores)</a:t>
            </a:r>
            <a:endParaRPr lang="en-US" sz="2000" b="1" dirty="0">
              <a:latin typeface="Aptos" panose="020B0004020202020204" pitchFamily="34" charset="0"/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Bayesian &amp; frequentist models for the </a:t>
            </a:r>
            <a:r>
              <a:rPr lang="en-US" sz="2000" b="1" dirty="0">
                <a:latin typeface="Aptos" panose="020B0004020202020204" pitchFamily="34" charset="0"/>
              </a:rPr>
              <a:t>2-year change </a:t>
            </a:r>
            <a:r>
              <a:rPr lang="en-US" sz="2000" dirty="0">
                <a:latin typeface="Aptos" panose="020B0004020202020204" pitchFamily="34" charset="0"/>
              </a:rPr>
              <a:t>in each of the four outcomes with primary explanatory variable as </a:t>
            </a:r>
            <a:r>
              <a:rPr lang="en-US" sz="2000" b="1" dirty="0">
                <a:latin typeface="Aptos" panose="020B0004020202020204" pitchFamily="34" charset="0"/>
              </a:rPr>
              <a:t>hard drug use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Control for </a:t>
            </a:r>
            <a:r>
              <a:rPr lang="en-US" sz="2000" b="1" dirty="0">
                <a:latin typeface="Aptos" panose="020B0004020202020204" pitchFamily="34" charset="0"/>
              </a:rPr>
              <a:t>standard covariates </a:t>
            </a:r>
            <a:r>
              <a:rPr lang="en-US" sz="2000" dirty="0">
                <a:latin typeface="Aptos" panose="020B0004020202020204" pitchFamily="34" charset="0"/>
              </a:rPr>
              <a:t>(baseline age, BMI, education, smoking status, and race) &amp; </a:t>
            </a:r>
            <a:r>
              <a:rPr lang="en-US" sz="2000" b="1" dirty="0">
                <a:latin typeface="Aptos" panose="020B0004020202020204" pitchFamily="34" charset="0"/>
              </a:rPr>
              <a:t>baseline value of outcome</a:t>
            </a:r>
          </a:p>
          <a:p>
            <a:pPr marL="342900" indent="-342900">
              <a:buAutoNum type="arabicParenR"/>
            </a:pPr>
            <a:r>
              <a:rPr lang="en-US" sz="2000" dirty="0">
                <a:latin typeface="Aptos" panose="020B0004020202020204" pitchFamily="34" charset="0"/>
              </a:rPr>
              <a:t>Effect of </a:t>
            </a:r>
            <a:r>
              <a:rPr lang="en-US" sz="2000" b="1" dirty="0">
                <a:latin typeface="Aptos" panose="020B0004020202020204" pitchFamily="34" charset="0"/>
              </a:rPr>
              <a:t>HAART adherence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Descriptive statistics to assess relationship between </a:t>
            </a:r>
            <a:r>
              <a:rPr lang="en-US" sz="2000" b="1" dirty="0">
                <a:latin typeface="Aptos" panose="020B0004020202020204" pitchFamily="34" charset="0"/>
              </a:rPr>
              <a:t>hard drug use</a:t>
            </a:r>
            <a:r>
              <a:rPr lang="en-US" sz="2000" dirty="0">
                <a:latin typeface="Aptos" panose="020B0004020202020204" pitchFamily="34" charset="0"/>
              </a:rPr>
              <a:t> and </a:t>
            </a:r>
            <a:r>
              <a:rPr lang="en-US" sz="2000" b="1" dirty="0">
                <a:latin typeface="Aptos" panose="020B0004020202020204" pitchFamily="34" charset="0"/>
              </a:rPr>
              <a:t>adherence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Bayesian &amp; frequentist models for each of the four outcomes, </a:t>
            </a:r>
            <a:r>
              <a:rPr lang="en-US" sz="2000" b="1" dirty="0">
                <a:latin typeface="Aptos" panose="020B0004020202020204" pitchFamily="34" charset="0"/>
              </a:rPr>
              <a:t>adjusting for adherence</a:t>
            </a: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45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2BEE91-EA87-5EB5-96B5-36BAF51AF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123"/>
          <a:stretch>
            <a:fillRect/>
          </a:stretch>
        </p:blipFill>
        <p:spPr>
          <a:xfrm>
            <a:off x="836943" y="250811"/>
            <a:ext cx="10518114" cy="635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52BF-6B34-7FE8-9617-8EFF6370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DB3E-F776-D8AB-CB1A-2E7A3145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Adherence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3B89C8-9564-82EC-DDF7-E8FDE02C3C24}"/>
              </a:ext>
            </a:extLst>
          </p:cNvPr>
          <p:cNvGrpSpPr/>
          <p:nvPr/>
        </p:nvGrpSpPr>
        <p:grpSpPr>
          <a:xfrm>
            <a:off x="508202" y="3923676"/>
            <a:ext cx="1836295" cy="1184223"/>
            <a:chOff x="779489" y="3680085"/>
            <a:chExt cx="1836295" cy="1184223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5BFE02D-43A5-0124-8AD9-D291AB75B3A1}"/>
                </a:ext>
              </a:extLst>
            </p:cNvPr>
            <p:cNvSpPr/>
            <p:nvPr/>
          </p:nvSpPr>
          <p:spPr>
            <a:xfrm>
              <a:off x="779489" y="3680085"/>
              <a:ext cx="1836295" cy="11842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9E77CC-BEED-E0F8-4872-9803F889C7DA}"/>
                </a:ext>
              </a:extLst>
            </p:cNvPr>
            <p:cNvSpPr txBox="1"/>
            <p:nvPr/>
          </p:nvSpPr>
          <p:spPr>
            <a:xfrm>
              <a:off x="882470" y="4080035"/>
              <a:ext cx="1718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ptos" panose="020B0004020202020204" pitchFamily="34" charset="0"/>
                </a:rPr>
                <a:t>Hard Drug Use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24FAE44-CFD2-BC6A-DC95-C250D94ACD4A}"/>
              </a:ext>
            </a:extLst>
          </p:cNvPr>
          <p:cNvGrpSpPr/>
          <p:nvPr/>
        </p:nvGrpSpPr>
        <p:grpSpPr>
          <a:xfrm>
            <a:off x="1887297" y="2436778"/>
            <a:ext cx="1836295" cy="1184223"/>
            <a:chOff x="637083" y="2439499"/>
            <a:chExt cx="1836295" cy="118422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087E565-C862-3853-6CE3-65D0FB8DF2F9}"/>
                </a:ext>
              </a:extLst>
            </p:cNvPr>
            <p:cNvSpPr/>
            <p:nvPr/>
          </p:nvSpPr>
          <p:spPr>
            <a:xfrm>
              <a:off x="637083" y="2439499"/>
              <a:ext cx="1836295" cy="11842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EFEFF2-8049-DFB5-A663-A02CA880B463}"/>
                </a:ext>
              </a:extLst>
            </p:cNvPr>
            <p:cNvSpPr txBox="1"/>
            <p:nvPr/>
          </p:nvSpPr>
          <p:spPr>
            <a:xfrm>
              <a:off x="726048" y="2554955"/>
              <a:ext cx="171832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" panose="020B0004020202020204" pitchFamily="34" charset="0"/>
                </a:rPr>
                <a:t>Lower Adherence to HAART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927CB6-C6B8-DEE1-399C-9DC4415A40CE}"/>
              </a:ext>
            </a:extLst>
          </p:cNvPr>
          <p:cNvGrpSpPr/>
          <p:nvPr/>
        </p:nvGrpSpPr>
        <p:grpSpPr>
          <a:xfrm>
            <a:off x="3216667" y="3923676"/>
            <a:ext cx="1900218" cy="1184223"/>
            <a:chOff x="311327" y="3785735"/>
            <a:chExt cx="1900218" cy="1184223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D54C7FE-0F75-8E2A-9878-FE15EA925036}"/>
                </a:ext>
              </a:extLst>
            </p:cNvPr>
            <p:cNvSpPr/>
            <p:nvPr/>
          </p:nvSpPr>
          <p:spPr>
            <a:xfrm>
              <a:off x="311327" y="3785735"/>
              <a:ext cx="1836295" cy="11842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332E8DE-50DB-A166-092A-AA662698D3FD}"/>
                </a:ext>
              </a:extLst>
            </p:cNvPr>
            <p:cNvSpPr txBox="1"/>
            <p:nvPr/>
          </p:nvSpPr>
          <p:spPr>
            <a:xfrm>
              <a:off x="311327" y="4054680"/>
              <a:ext cx="1900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ptos" panose="020B0004020202020204" pitchFamily="34" charset="0"/>
                </a:rPr>
                <a:t>Worse Health Outcomes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C9F515-AB3C-48A1-0BF1-1D68E51AC32A}"/>
              </a:ext>
            </a:extLst>
          </p:cNvPr>
          <p:cNvCxnSpPr>
            <a:cxnSpLocks/>
          </p:cNvCxnSpPr>
          <p:nvPr/>
        </p:nvCxnSpPr>
        <p:spPr>
          <a:xfrm flipV="1">
            <a:off x="1486310" y="3267856"/>
            <a:ext cx="460947" cy="6558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D06941A-8199-0297-2559-41D9EB84882A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3627620" y="3267856"/>
            <a:ext cx="507195" cy="6558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73911B6-73B4-A736-113F-01AB7634BFAE}"/>
              </a:ext>
            </a:extLst>
          </p:cNvPr>
          <p:cNvCxnSpPr>
            <a:stCxn id="19" idx="3"/>
            <a:endCxn id="15" idx="1"/>
          </p:cNvCxnSpPr>
          <p:nvPr/>
        </p:nvCxnSpPr>
        <p:spPr>
          <a:xfrm>
            <a:off x="2329507" y="4508292"/>
            <a:ext cx="887160" cy="7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A066385-4CA3-5F8D-5311-F9BBA4F89FD7}"/>
              </a:ext>
            </a:extLst>
          </p:cNvPr>
          <p:cNvSpPr txBox="1"/>
          <p:nvPr/>
        </p:nvSpPr>
        <p:spPr>
          <a:xfrm>
            <a:off x="3926825" y="3308680"/>
            <a:ext cx="667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?</a:t>
            </a:r>
            <a:endParaRPr lang="en-US" b="1" dirty="0"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A6755F-01A1-9B1E-A22A-169A97196D09}"/>
              </a:ext>
            </a:extLst>
          </p:cNvPr>
          <p:cNvSpPr txBox="1"/>
          <p:nvPr/>
        </p:nvSpPr>
        <p:spPr>
          <a:xfrm>
            <a:off x="1379152" y="3308680"/>
            <a:ext cx="428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?</a:t>
            </a:r>
            <a:endParaRPr lang="en-US" b="1" dirty="0">
              <a:latin typeface="Aptos" panose="020B0004020202020204" pitchFamily="34" charset="0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44FF4AC-99C6-3B9C-4C6C-01090FEBA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562831"/>
              </p:ext>
            </p:extLst>
          </p:nvPr>
        </p:nvGraphicFramePr>
        <p:xfrm>
          <a:off x="6288484" y="2455674"/>
          <a:ext cx="4977742" cy="2354580"/>
        </p:xfrm>
        <a:graphic>
          <a:graphicData uri="http://schemas.openxmlformats.org/drawingml/2006/table">
            <a:tbl>
              <a:tblPr/>
              <a:tblGrid>
                <a:gridCol w="1776698">
                  <a:extLst>
                    <a:ext uri="{9D8B030D-6E8A-4147-A177-3AD203B41FA5}">
                      <a16:colId xmlns:a16="http://schemas.microsoft.com/office/drawing/2014/main" val="3799210937"/>
                    </a:ext>
                  </a:extLst>
                </a:gridCol>
                <a:gridCol w="1405058">
                  <a:extLst>
                    <a:ext uri="{9D8B030D-6E8A-4147-A177-3AD203B41FA5}">
                      <a16:colId xmlns:a16="http://schemas.microsoft.com/office/drawing/2014/main" val="918813499"/>
                    </a:ext>
                  </a:extLst>
                </a:gridCol>
                <a:gridCol w="1795986">
                  <a:extLst>
                    <a:ext uri="{9D8B030D-6E8A-4147-A177-3AD203B41FA5}">
                      <a16:colId xmlns:a16="http://schemas.microsoft.com/office/drawing/2014/main" val="3567248431"/>
                    </a:ext>
                  </a:extLst>
                </a:gridCol>
              </a:tblGrid>
              <a:tr h="263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2-year HAART Adherence</a:t>
                      </a:r>
                      <a:endParaRPr lang="en-US" sz="3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Aft>
                          <a:spcPts val="300"/>
                        </a:spcAft>
                        <a:buNone/>
                      </a:pPr>
                      <a:endParaRPr lang="en-US" sz="3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Hard Drug Use N = 36</a:t>
                      </a:r>
                      <a:endParaRPr lang="en-US" sz="3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 Hard Drug Use N = 427</a:t>
                      </a:r>
                      <a:endParaRPr lang="en-US" sz="3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>
                      <a:noFill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535576"/>
                  </a:ext>
                </a:extLst>
              </a:tr>
              <a:tr h="263595">
                <a:tc>
                  <a:txBody>
                    <a:bodyPr/>
                    <a:lstStyle/>
                    <a:p>
                      <a:pPr marL="0" marR="0"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   ≥95% Adherence</a:t>
                      </a:r>
                      <a:endParaRPr lang="en-US" sz="32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35 (97%)</a:t>
                      </a:r>
                      <a:endParaRPr lang="en-US" sz="3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382 (89%)</a:t>
                      </a:r>
                      <a:endParaRPr lang="en-US" sz="3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652821"/>
                  </a:ext>
                </a:extLst>
              </a:tr>
              <a:tr h="263595">
                <a:tc>
                  <a:txBody>
                    <a:bodyPr/>
                    <a:lstStyle/>
                    <a:p>
                      <a:pPr marL="0" marR="0"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   &lt;95 % Adherence</a:t>
                      </a:r>
                      <a:endParaRPr lang="en-US" sz="32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(2.8%)</a:t>
                      </a:r>
                      <a:endParaRPr lang="en-US" sz="3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45 (11%)</a:t>
                      </a:r>
                      <a:endParaRPr lang="en-US" sz="3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314270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A0553CB5-A9AA-78B7-A52D-4FCCDCA576D4}"/>
              </a:ext>
            </a:extLst>
          </p:cNvPr>
          <p:cNvSpPr txBox="1"/>
          <p:nvPr/>
        </p:nvSpPr>
        <p:spPr>
          <a:xfrm>
            <a:off x="6288484" y="5044190"/>
            <a:ext cx="4459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Fisher’s Exact Test:</a:t>
            </a:r>
            <a:r>
              <a:rPr lang="en-US" sz="2000" b="1" dirty="0">
                <a:latin typeface="Aptos" panose="020B0004020202020204" pitchFamily="34" charset="0"/>
              </a:rPr>
              <a:t> p = 0.11</a:t>
            </a:r>
            <a:endParaRPr lang="en-US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620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0253D-3432-4687-24A4-584BF0557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73F75A45-6AC7-D861-AC37-152230398A04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77"/>
          <a:stretch>
            <a:fillRect/>
          </a:stretch>
        </p:blipFill>
        <p:spPr bwMode="auto">
          <a:xfrm>
            <a:off x="1492146" y="418441"/>
            <a:ext cx="9207708" cy="602111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232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B86A-5CFF-69B6-AD7F-E05FBA2D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B804-FB00-861A-7547-3216773C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9336-E09E-B533-D9DB-1AEE53954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AutoNum type="arabicParenR"/>
            </a:pPr>
            <a:r>
              <a:rPr lang="en-US" sz="2400" dirty="0">
                <a:latin typeface="Aptos" panose="020B0004020202020204" pitchFamily="34" charset="0"/>
              </a:rPr>
              <a:t>Statistically </a:t>
            </a:r>
            <a:r>
              <a:rPr lang="en-US" sz="2400" b="1" dirty="0">
                <a:latin typeface="Aptos" panose="020B0004020202020204" pitchFamily="34" charset="0"/>
              </a:rPr>
              <a:t>significant effect </a:t>
            </a:r>
            <a:r>
              <a:rPr lang="en-US" sz="2400" dirty="0">
                <a:latin typeface="Aptos" panose="020B0004020202020204" pitchFamily="34" charset="0"/>
              </a:rPr>
              <a:t>of hard drug use on 2-year changes in </a:t>
            </a:r>
            <a:r>
              <a:rPr lang="en-US" sz="2400" b="1" dirty="0">
                <a:latin typeface="Aptos" panose="020B0004020202020204" pitchFamily="34" charset="0"/>
              </a:rPr>
              <a:t>CD4+ T-cell count </a:t>
            </a:r>
            <a:r>
              <a:rPr lang="en-US" sz="2400" dirty="0">
                <a:latin typeface="Aptos" panose="020B0004020202020204" pitchFamily="34" charset="0"/>
              </a:rPr>
              <a:t>and </a:t>
            </a:r>
            <a:r>
              <a:rPr lang="en-US" sz="2400" b="1" dirty="0">
                <a:latin typeface="Aptos" panose="020B0004020202020204" pitchFamily="34" charset="0"/>
              </a:rPr>
              <a:t>SF-36 PCS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Insignificant effect on log10 viral load and SF-36 MCS</a:t>
            </a:r>
          </a:p>
          <a:p>
            <a:pPr marL="342900" indent="-342900">
              <a:buAutoNum type="arabicParenR"/>
            </a:pPr>
            <a:r>
              <a:rPr lang="en-US" sz="2400" dirty="0">
                <a:latin typeface="Aptos" panose="020B0004020202020204" pitchFamily="34" charset="0"/>
              </a:rPr>
              <a:t>Adherence does not meaningfully change hard drug use estimates across all outcomes</a:t>
            </a:r>
          </a:p>
          <a:p>
            <a:pPr marL="342900" indent="-342900">
              <a:buAutoNum type="arabicParenR"/>
            </a:pPr>
            <a:r>
              <a:rPr lang="en-US" sz="2400" kern="0" dirty="0">
                <a:latin typeface="Aptos" panose="020B0004020202020204" pitchFamily="34" charset="0"/>
                <a:ea typeface="Aptos" panose="020B0004020202020204" pitchFamily="34" charset="0"/>
              </a:rPr>
              <a:t>B</a:t>
            </a:r>
            <a:r>
              <a:rPr lang="en-US" sz="2400" kern="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eneficial effects of HAART therapy may be mitigated in hard drug users</a:t>
            </a:r>
            <a:endParaRPr lang="en-US" sz="2400" dirty="0">
              <a:latin typeface="Aptos" panose="020B0004020202020204" pitchFamily="34" charset="0"/>
            </a:endParaRPr>
          </a:p>
          <a:p>
            <a:pPr lvl="1"/>
            <a:endParaRPr lang="en-US" sz="2400" b="1" dirty="0">
              <a:latin typeface="Aptos" panose="020B0004020202020204" pitchFamily="34" charset="0"/>
            </a:endParaRPr>
          </a:p>
          <a:p>
            <a:pPr lvl="1"/>
            <a:r>
              <a:rPr lang="en-US" sz="2400" b="1" dirty="0">
                <a:latin typeface="Aptos" panose="020B0004020202020204" pitchFamily="34" charset="0"/>
              </a:rPr>
              <a:t>Limitations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Missingness assumptions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Generalizability</a:t>
            </a:r>
          </a:p>
        </p:txBody>
      </p:sp>
    </p:spTree>
    <p:extLst>
      <p:ext uri="{BB962C8B-B14F-4D97-AF65-F5344CB8AC3E}">
        <p14:creationId xmlns:p14="http://schemas.microsoft.com/office/powerpoint/2010/main" val="2927014074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Custom 11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schemas.microsoft.com/sharepoint/v3"/>
    <ds:schemaRef ds:uri="http://purl.org/dc/terms/"/>
    <ds:schemaRef ds:uri="http://schemas.microsoft.com/office/2006/documentManagement/types"/>
    <ds:schemaRef ds:uri="230e9df3-be65-4c73-a93b-d1236ebd677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{2CA85A58-E873-4A41-8592-E968280228EE}0743cd2c-45be-4ec9-be1d-752c74c944b1-TFffbca3bb-2f91-4c96-94aa-cfcf1da3bf44eb66806c_win32</Template>
  <TotalTime>455</TotalTime>
  <Words>274</Words>
  <Application>Microsoft Office PowerPoint</Application>
  <PresentationFormat>Widescreen</PresentationFormat>
  <Paragraphs>39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Felix Titling</vt:lpstr>
      <vt:lpstr>Goudy Old Style</vt:lpstr>
      <vt:lpstr>Neutrals</vt:lpstr>
      <vt:lpstr>Evaluation of Treatment Efficacy Among Hard-Drug Using HIV Patients Receiving Highly Active Antiretroviral Therapy (HAART)</vt:lpstr>
      <vt:lpstr>Research Questions</vt:lpstr>
      <vt:lpstr>PowerPoint Presentation</vt:lpstr>
      <vt:lpstr>Adherence</vt:lpstr>
      <vt:lpstr>PowerPoint Presentation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Marshall Roll</dc:creator>
  <cp:lastModifiedBy>Marshall Roll</cp:lastModifiedBy>
  <cp:revision>2</cp:revision>
  <dcterms:created xsi:type="dcterms:W3CDTF">2026-02-03T23:47:24Z</dcterms:created>
  <dcterms:modified xsi:type="dcterms:W3CDTF">2026-03-01T00:58:52Z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