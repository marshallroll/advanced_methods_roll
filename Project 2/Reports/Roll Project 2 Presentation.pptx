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1"/>
  </p:notesMasterIdLst>
  <p:handoutMasterIdLst>
    <p:handoutMasterId r:id="rId12"/>
  </p:handoutMasterIdLst>
  <p:sldIdLst>
    <p:sldId id="1522" r:id="rId5"/>
    <p:sldId id="1528" r:id="rId6"/>
    <p:sldId id="1526" r:id="rId7"/>
    <p:sldId id="1521" r:id="rId8"/>
    <p:sldId id="1524" r:id="rId9"/>
    <p:sldId id="152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AA383-4B97-92CB-B908-3EAF3589B59E}" v="6" dt="2025-04-02T15:51:59.12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30"/>
  </p:normalViewPr>
  <p:slideViewPr>
    <p:cSldViewPr snapToGrid="0">
      <p:cViewPr varScale="1">
        <p:scale>
          <a:sx n="64" d="100"/>
          <a:sy n="64" d="100"/>
        </p:scale>
        <p:origin x="34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8A5B-5EB3-C16C-E3CB-45F8A198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15C1D-AEB9-2953-ED97-835F8B2BE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89313-157F-462C-9C52-5EDBA2904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6F5B3-4143-69B0-7055-0C34B175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18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866B-03DE-A49A-D41C-20979E00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B2DC3-E931-F77F-239B-FBA8C66CF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FF9F7-A8FE-0D34-7BAA-C5E55621E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D6CC3-A651-2ED0-D638-923D4C446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26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3/29/2026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3/29/2026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6E32-87FC-168E-D942-0EDA1EB5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Research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8469-3BCA-0223-72F9-7A0973F9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>
                <a:latin typeface="Aptos" panose="020B0004020202020204" pitchFamily="34" charset="0"/>
              </a:rPr>
              <a:t>Data: </a:t>
            </a:r>
            <a:r>
              <a:rPr lang="en-US" sz="2800" dirty="0">
                <a:latin typeface="Aptos" panose="020B0004020202020204" pitchFamily="34" charset="0"/>
              </a:rPr>
              <a:t>137 aMCI and 55 healthy control (HC) patients;  final </a:t>
            </a:r>
            <a:r>
              <a:rPr lang="en-US" sz="2800" b="1" dirty="0">
                <a:latin typeface="Aptos" panose="020B0004020202020204" pitchFamily="34" charset="0"/>
              </a:rPr>
              <a:t>projected sample size of 175</a:t>
            </a:r>
            <a:r>
              <a:rPr lang="en-US" sz="2800" dirty="0">
                <a:latin typeface="Aptos" panose="020B0004020202020204" pitchFamily="34" charset="0"/>
              </a:rPr>
              <a:t>, with 125 aMCI and 50 HC participants.</a:t>
            </a:r>
          </a:p>
          <a:p>
            <a:pPr>
              <a:spcAft>
                <a:spcPts val="1200"/>
              </a:spcAft>
            </a:pPr>
            <a:r>
              <a:rPr lang="en-US" sz="2800" b="1" dirty="0">
                <a:latin typeface="Aptos" panose="020B0004020202020204" pitchFamily="34" charset="0"/>
              </a:rPr>
              <a:t>Aim 1: </a:t>
            </a:r>
            <a:r>
              <a:rPr lang="en-US" sz="2800" dirty="0">
                <a:latin typeface="Aptos" panose="020B0004020202020204" pitchFamily="34" charset="0"/>
              </a:rPr>
              <a:t>Evaluate the change in peripheral inflammation, cognition, and brain structure over time in aMCI patients </a:t>
            </a:r>
          </a:p>
          <a:p>
            <a:pPr>
              <a:spcAft>
                <a:spcPts val="1200"/>
              </a:spcAft>
            </a:pPr>
            <a:r>
              <a:rPr lang="en-US" sz="2800" b="1" dirty="0">
                <a:latin typeface="Aptos" panose="020B0004020202020204" pitchFamily="34" charset="0"/>
              </a:rPr>
              <a:t>Aim 2: </a:t>
            </a:r>
            <a:r>
              <a:rPr lang="en-US" sz="2800" dirty="0">
                <a:latin typeface="Aptos" panose="020B0004020202020204" pitchFamily="34" charset="0"/>
              </a:rPr>
              <a:t>Understand how peripheral inflammation affects the relationship between AD pathology and the progression of aMCI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5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2E9B-076E-8999-AC85-0EA10C0B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95D5-D8FF-7E17-4976-DE023785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Variables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0B34-E191-B8A6-E0C2-D5A1DE9E9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Outcomes: </a:t>
            </a:r>
            <a:r>
              <a:rPr lang="en-US" sz="2800" dirty="0">
                <a:latin typeface="Aptos" panose="020B0004020202020204" pitchFamily="34" charset="0"/>
              </a:rPr>
              <a:t>1-year change in cognitive/brain structure measures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Cognitive Measures: </a:t>
            </a:r>
            <a:r>
              <a:rPr lang="en-US" sz="2400" dirty="0">
                <a:latin typeface="Aptos" panose="020B0004020202020204" pitchFamily="34" charset="0"/>
              </a:rPr>
              <a:t>CVLT 20’ Delay Total Correct, CVLT Recognition D-Prime, Benson Figure 15’ Delay Total Correct, MST Proportion Correct, and Story Recall 1-Week Delay Total Correct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Brain Structure Measures: </a:t>
            </a:r>
            <a:r>
              <a:rPr lang="en-US" sz="2400" dirty="0">
                <a:latin typeface="Aptos" panose="020B0004020202020204" pitchFamily="34" charset="0"/>
              </a:rPr>
              <a:t>Mean cortical thickness across AD regions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Explanatory Variables: </a:t>
            </a:r>
            <a:r>
              <a:rPr lang="en-US" sz="2800" dirty="0">
                <a:latin typeface="Aptos" panose="020B0004020202020204" pitchFamily="34" charset="0"/>
              </a:rPr>
              <a:t>Chemokines/cytokines 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IL-6, MCP-1, Eotaxin-1, TNF-alpha</a:t>
            </a:r>
          </a:p>
          <a:p>
            <a:r>
              <a:rPr lang="en-US" sz="2400" b="1" dirty="0">
                <a:latin typeface="Aptos" panose="020B0004020202020204" pitchFamily="34" charset="0"/>
              </a:rPr>
              <a:t>Covariates: </a:t>
            </a:r>
            <a:r>
              <a:rPr lang="en-US" sz="2400" dirty="0">
                <a:latin typeface="Aptos" panose="020B0004020202020204" pitchFamily="34" charset="0"/>
              </a:rPr>
              <a:t>Age, sex, APOE genotype, demographics, cardiovascular risk metrics, functional &amp; behavioral scores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90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52BF-6B34-7FE8-9617-8EFF6370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DB3E-F776-D8AB-CB1A-2E7A3145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Aim 1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355E-D1F7-C323-B09F-13320BA2D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/>
          </a:bodyPr>
          <a:lstStyle/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Omnibus F-test </a:t>
            </a:r>
            <a:r>
              <a:rPr lang="en-US" sz="2000" dirty="0">
                <a:latin typeface="Aptos" panose="020B0004020202020204" pitchFamily="34" charset="0"/>
              </a:rPr>
              <a:t>for overall significance        Separate </a:t>
            </a:r>
            <a:r>
              <a:rPr lang="en-US" sz="2000" b="1" dirty="0">
                <a:latin typeface="Aptos" panose="020B0004020202020204" pitchFamily="34" charset="0"/>
              </a:rPr>
              <a:t>individual linear regression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High multicollinearity </a:t>
            </a:r>
            <a:r>
              <a:rPr lang="en-US" sz="2000" dirty="0">
                <a:latin typeface="Aptos" panose="020B0004020202020204" pitchFamily="34" charset="0"/>
              </a:rPr>
              <a:t>between predictors (</a:t>
            </a:r>
            <a:r>
              <a:rPr lang="en-US" sz="2000" i="1" dirty="0">
                <a:latin typeface="Aptos" panose="020B0004020202020204" pitchFamily="34" charset="0"/>
              </a:rPr>
              <a:t>r = </a:t>
            </a:r>
            <a:r>
              <a:rPr lang="en-US" sz="2000" dirty="0">
                <a:latin typeface="Aptos" panose="020B0004020202020204" pitchFamily="34" charset="0"/>
              </a:rPr>
              <a:t>0.93 between ILP-6 &amp; MCP-1, n = 30)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Explanatory variables: </a:t>
            </a:r>
            <a:r>
              <a:rPr lang="en-US" sz="2000" b="1" dirty="0">
                <a:latin typeface="Aptos" panose="020B0004020202020204" pitchFamily="34" charset="0"/>
              </a:rPr>
              <a:t>baseline </a:t>
            </a:r>
            <a:r>
              <a:rPr lang="en-US" sz="2000" dirty="0">
                <a:latin typeface="Aptos" panose="020B0004020202020204" pitchFamily="34" charset="0"/>
              </a:rPr>
              <a:t>cytokines/chemokines and </a:t>
            </a:r>
            <a:r>
              <a:rPr lang="en-US" sz="2000" b="1" dirty="0">
                <a:latin typeface="Aptos" panose="020B0004020202020204" pitchFamily="34" charset="0"/>
              </a:rPr>
              <a:t>1-year change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Control for age, sex</a:t>
            </a:r>
            <a:r>
              <a:rPr lang="en-US" sz="2000" dirty="0">
                <a:latin typeface="Aptos" panose="020B0004020202020204" pitchFamily="34" charset="0"/>
              </a:rPr>
              <a:t>, and baseline cytokine/chemokine in change model, will consider adding other covariates via sensitivity analysis for effect size difference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Conditional power calculated </a:t>
            </a:r>
            <a:r>
              <a:rPr lang="en-US" sz="2000" dirty="0">
                <a:latin typeface="Aptos" panose="020B0004020202020204" pitchFamily="34" charset="0"/>
              </a:rPr>
              <a:t>across a range of observed effect sizes between 2 explanatory variables (ILP-6 &amp; MCP-1) and 2 outcomes (1-year CVLT change, 1-year cortical thickness change)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9822E58-4FC8-1CFD-1764-ED3CA42B4C50}"/>
              </a:ext>
            </a:extLst>
          </p:cNvPr>
          <p:cNvSpPr/>
          <p:nvPr/>
        </p:nvSpPr>
        <p:spPr>
          <a:xfrm>
            <a:off x="5586984" y="1874520"/>
            <a:ext cx="228600" cy="16459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2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253D-3432-4687-24A4-584BF055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D4AA3B-EF47-FA9C-B8E6-04E00521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18017"/>
              </p:ext>
            </p:extLst>
          </p:nvPr>
        </p:nvGraphicFramePr>
        <p:xfrm>
          <a:off x="530901" y="906905"/>
          <a:ext cx="11130198" cy="528876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{5940675A-B579-460E-94D1-54222C63F5DA}</a:tableStyleId>
              </a:tblPr>
              <a:tblGrid>
                <a:gridCol w="1833378">
                  <a:extLst>
                    <a:ext uri="{9D8B030D-6E8A-4147-A177-3AD203B41FA5}">
                      <a16:colId xmlns:a16="http://schemas.microsoft.com/office/drawing/2014/main" val="2649912191"/>
                    </a:ext>
                  </a:extLst>
                </a:gridCol>
                <a:gridCol w="2775049">
                  <a:extLst>
                    <a:ext uri="{9D8B030D-6E8A-4147-A177-3AD203B41FA5}">
                      <a16:colId xmlns:a16="http://schemas.microsoft.com/office/drawing/2014/main" val="3299556832"/>
                    </a:ext>
                  </a:extLst>
                </a:gridCol>
                <a:gridCol w="3299708">
                  <a:extLst>
                    <a:ext uri="{9D8B030D-6E8A-4147-A177-3AD203B41FA5}">
                      <a16:colId xmlns:a16="http://schemas.microsoft.com/office/drawing/2014/main" val="2997822062"/>
                    </a:ext>
                  </a:extLst>
                </a:gridCol>
                <a:gridCol w="3222063">
                  <a:extLst>
                    <a:ext uri="{9D8B030D-6E8A-4147-A177-3AD203B41FA5}">
                      <a16:colId xmlns:a16="http://schemas.microsoft.com/office/drawing/2014/main" val="209149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b="1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Effect Size (r)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b="1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Omnibus F-Test Power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b="1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Theoretical </a:t>
                      </a:r>
                    </a:p>
                    <a:p>
                      <a:pPr marL="0" marR="0" algn="r"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b="1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Individual Power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b="1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Protected Individual Power*</a:t>
                      </a:r>
                      <a:endParaRPr lang="en-US" sz="2400" b="1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59616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0.200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0.432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0.665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0.287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3996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0.250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0.683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0.868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0.593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764318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0.300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0.878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0.966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0.848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887812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0.350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0.971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0.995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0.966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459868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0.400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0.996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0.996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217212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0.450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707434"/>
                  </a:ext>
                </a:extLst>
              </a:tr>
              <a:tr h="51250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0.500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24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1.000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32818"/>
                  </a:ext>
                </a:extLst>
              </a:tr>
              <a:tr h="512506">
                <a:tc gridSpan="4">
                  <a:txBody>
                    <a:bodyPr/>
                    <a:lstStyle/>
                    <a:p>
                      <a:pPr marL="0" marR="0" algn="r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*Protected Power is the joint probability of both Omnibus and Individual significance.</a:t>
                      </a:r>
                      <a:endParaRPr lang="en-US" sz="16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16" marR="0" marT="14604" marB="10953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483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32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B86A-5CFF-69B6-AD7F-E05FBA2D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B804-FB00-861A-7547-3216773C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Aim 2 Plan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2AD8A2-2A6A-24BB-8EB0-A5DC95B0D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 lnSpcReduction="10000"/>
          </a:bodyPr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Similar testing structure as aim 1 but will include main effect of amyloid deposition and </a:t>
            </a:r>
            <a:r>
              <a:rPr lang="en-US" sz="2000" b="1" dirty="0">
                <a:latin typeface="Aptos" panose="020B0004020202020204" pitchFamily="34" charset="0"/>
              </a:rPr>
              <a:t>interaction effect between amyloid deposition and 1-year change in chemokines/cytokines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Amyloid deposition will be </a:t>
            </a:r>
            <a:r>
              <a:rPr lang="en-US" sz="2000" b="1" dirty="0">
                <a:latin typeface="Aptos" panose="020B0004020202020204" pitchFamily="34" charset="0"/>
              </a:rPr>
              <a:t>continuous in primary analysis </a:t>
            </a:r>
            <a:r>
              <a:rPr lang="en-US" sz="2000" dirty="0">
                <a:latin typeface="Aptos" panose="020B0004020202020204" pitchFamily="34" charset="0"/>
              </a:rPr>
              <a:t>but binarized based on SUVR in power calculations</a:t>
            </a:r>
            <a:endParaRPr lang="en-US" sz="2000" b="1" dirty="0">
              <a:latin typeface="Aptos" panose="020B0004020202020204" pitchFamily="34" charset="0"/>
            </a:endParaRPr>
          </a:p>
          <a:p>
            <a:pPr lvl="2"/>
            <a:endParaRPr lang="en-US" sz="2000" dirty="0">
              <a:latin typeface="Aptos" panose="020B0004020202020204" pitchFamily="34" charset="0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Control for age, sex</a:t>
            </a:r>
            <a:r>
              <a:rPr lang="en-US" sz="2000" dirty="0">
                <a:latin typeface="Aptos" panose="020B0004020202020204" pitchFamily="34" charset="0"/>
              </a:rPr>
              <a:t>, and baseline cytokine/chemokine in change model, will consider adding other covariates through sensitivity analysis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Power of detecting an interaction effect calculated </a:t>
            </a:r>
            <a:r>
              <a:rPr lang="en-US" sz="2000" dirty="0">
                <a:latin typeface="Aptos" panose="020B0004020202020204" pitchFamily="34" charset="0"/>
              </a:rPr>
              <a:t>across a range of observed effect sizes between 2 explanatory variables (ILP-6 &amp; MCP-1) and 2 outcomes (1-year CVLT change, 1-year cortical thickness change), interaction effect sizes, and count of amyloid positive patients</a:t>
            </a:r>
          </a:p>
        </p:txBody>
      </p:sp>
    </p:spTree>
    <p:extLst>
      <p:ext uri="{BB962C8B-B14F-4D97-AF65-F5344CB8AC3E}">
        <p14:creationId xmlns:p14="http://schemas.microsoft.com/office/powerpoint/2010/main" val="292701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DAF3-2BD1-7C70-6A44-C3925DC0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2E9FB4-B82D-D5A3-92C0-CD065B8AA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89" y="149902"/>
            <a:ext cx="10662622" cy="655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18294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purl.org/dc/terms/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{2CA85A58-E873-4A41-8592-E968280228EE}0743cd2c-45be-4ec9-be1d-752c74c944b1-TFffbca3bb-2f91-4c96-94aa-cfcf1da3bf44eb66806c_win32</Template>
  <TotalTime>545</TotalTime>
  <Words>428</Words>
  <Application>Microsoft Office PowerPoint</Application>
  <PresentationFormat>Widescreen</PresentationFormat>
  <Paragraphs>63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Felix Titling</vt:lpstr>
      <vt:lpstr>Goudy Old Style</vt:lpstr>
      <vt:lpstr>Neutrals</vt:lpstr>
      <vt:lpstr>Research Aims</vt:lpstr>
      <vt:lpstr>Variables of Interest</vt:lpstr>
      <vt:lpstr>Aim 1 Plan</vt:lpstr>
      <vt:lpstr>PowerPoint Presentation</vt:lpstr>
      <vt:lpstr>Aim 2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Roll</dc:creator>
  <cp:lastModifiedBy>Marshall Roll</cp:lastModifiedBy>
  <cp:revision>5</cp:revision>
  <dcterms:created xsi:type="dcterms:W3CDTF">2026-02-03T23:47:24Z</dcterms:created>
  <dcterms:modified xsi:type="dcterms:W3CDTF">2026-03-29T23:45:01Z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