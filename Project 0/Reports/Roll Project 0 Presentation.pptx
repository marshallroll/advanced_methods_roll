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11"/>
  </p:notesMasterIdLst>
  <p:handoutMasterIdLst>
    <p:handoutMasterId r:id="rId12"/>
  </p:handoutMasterIdLst>
  <p:sldIdLst>
    <p:sldId id="1519" r:id="rId5"/>
    <p:sldId id="1522" r:id="rId6"/>
    <p:sldId id="1520" r:id="rId7"/>
    <p:sldId id="1521" r:id="rId8"/>
    <p:sldId id="1523" r:id="rId9"/>
    <p:sldId id="152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AA383-4B97-92CB-B908-3EAF3589B59E}" v="6" dt="2025-04-02T15:51:59.12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30"/>
  </p:normalViewPr>
  <p:slideViewPr>
    <p:cSldViewPr snapToGrid="0">
      <p:cViewPr varScale="1">
        <p:scale>
          <a:sx n="101" d="100"/>
          <a:sy n="101" d="100"/>
        </p:scale>
        <p:origin x="9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375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8A5B-5EB3-C16C-E3CB-45F8A198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15C1D-AEB9-2953-ED97-835F8B2BE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89313-157F-462C-9C52-5EDBA2904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6F5B3-4143-69B0-7055-0C34B175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18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4842-A358-1DAA-D783-527BB3EF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F91FD-BC7C-7E07-11A2-F1C44B89B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6FC14-5049-E060-F76D-BB36A7A02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4C59-AB11-74B1-7AE0-30F81E63B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5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2/3/2026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2/3/2026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95" y="1288233"/>
            <a:ext cx="10876810" cy="2466202"/>
          </a:xfrm>
        </p:spPr>
        <p:txBody>
          <a:bodyPr/>
          <a:lstStyle/>
          <a:p>
            <a:r>
              <a:rPr lang="en-US" sz="4800" b="1" dirty="0">
                <a:latin typeface="Aptos" panose="020B0004020202020204" pitchFamily="34" charset="0"/>
              </a:rPr>
              <a:t>Evaluation of Saliva Procurement and Integrated Testing (SPIT) booklet in Measuring Cortisol and DHEA Levels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Picture Placeholder 6" descr="A group of horses running in the dust">
            <a:extLst>
              <a:ext uri="{FF2B5EF4-FFF2-40B4-BE49-F238E27FC236}">
                <a16:creationId xmlns:a16="http://schemas.microsoft.com/office/drawing/2014/main" id="{801B52E4-5A3E-2BC1-3EBB-1BABD7ACD2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72000"/>
            <a:ext cx="12191999" cy="2286000"/>
          </a:xfrm>
          <a:noFill/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/>
          <a:lstStyle/>
          <a:p>
            <a:r>
              <a:rPr lang="en-US" i="0" dirty="0">
                <a:latin typeface="Aptos" panose="020B0004020202020204" pitchFamily="34" charset="0"/>
              </a:rPr>
              <a:t>Marshall Roll</a:t>
            </a:r>
          </a:p>
        </p:txBody>
      </p:sp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6E32-87FC-168E-D942-0EDA1EB5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48469-3BCA-0223-72F9-7A0973F9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US" b="1" dirty="0">
                <a:latin typeface="Aptos" panose="020B0004020202020204" pitchFamily="34" charset="0"/>
              </a:rPr>
              <a:t>Internal consistency of timing </a:t>
            </a:r>
            <a:r>
              <a:rPr lang="en-US" dirty="0">
                <a:latin typeface="Aptos" panose="020B0004020202020204" pitchFamily="34" charset="0"/>
              </a:rPr>
              <a:t>(if on average, cap and booklet times were similar)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Mixed model with random intercepts for participants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Repeated measures correlation on complete cases</a:t>
            </a:r>
          </a:p>
          <a:p>
            <a:pPr marL="342900" indent="-342900">
              <a:buAutoNum type="arabicParenR"/>
            </a:pPr>
            <a:r>
              <a:rPr lang="en-US" b="1" dirty="0">
                <a:latin typeface="Aptos" panose="020B0004020202020204" pitchFamily="34" charset="0"/>
              </a:rPr>
              <a:t>Treatment adherence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Descriptive statistics</a:t>
            </a:r>
          </a:p>
          <a:p>
            <a:pPr marL="342900" indent="-342900">
              <a:buAutoNum type="arabicParenR"/>
            </a:pPr>
            <a:r>
              <a:rPr lang="en-US" b="1" dirty="0">
                <a:latin typeface="Aptos" panose="020B0004020202020204" pitchFamily="34" charset="0"/>
              </a:rPr>
              <a:t>Association between time since wake and cortisol and DHEA levels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Piecewise linear regression models with random intercepts for participants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Knot at 30 minutes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r>
              <a:rPr lang="en-US" b="1" dirty="0">
                <a:latin typeface="Aptos" panose="020B0004020202020204" pitchFamily="34" charset="0"/>
              </a:rPr>
              <a:t>Data: </a:t>
            </a:r>
            <a:r>
              <a:rPr lang="en-US" dirty="0">
                <a:latin typeface="Aptos" panose="020B0004020202020204" pitchFamily="34" charset="0"/>
              </a:rPr>
              <a:t>31 healthy individuals collecting saliva samples at wake, 30 minutes after wake, at lunch time, and 600 minutes after wake for 3 days consecutively</a:t>
            </a:r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5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31C3855E-A7EB-06F9-3208-5F2DDCD9FA5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369612" y="211372"/>
            <a:ext cx="9324892" cy="643525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8403A6-9EA7-F36A-6C62-C405C33FFA88}"/>
              </a:ext>
            </a:extLst>
          </p:cNvPr>
          <p:cNvSpPr txBox="1"/>
          <p:nvPr/>
        </p:nvSpPr>
        <p:spPr>
          <a:xfrm>
            <a:off x="7629277" y="3156667"/>
            <a:ext cx="27909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Cap readings occur an average of about </a:t>
            </a:r>
            <a:r>
              <a:rPr lang="en-US" b="1" dirty="0">
                <a:latin typeface="Aptos" panose="020B0004020202020204" pitchFamily="34" charset="0"/>
              </a:rPr>
              <a:t>10 minutes later </a:t>
            </a:r>
            <a:r>
              <a:rPr lang="en-US" dirty="0">
                <a:latin typeface="Aptos" panose="020B0004020202020204" pitchFamily="34" charset="0"/>
              </a:rPr>
              <a:t>than booklet recordings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Strong agreement</a:t>
            </a:r>
            <a:r>
              <a:rPr lang="en-US" dirty="0">
                <a:latin typeface="Aptos" panose="020B0004020202020204" pitchFamily="34" charset="0"/>
              </a:rPr>
              <a:t> between cap &amp; booklet (repeated measures correlation, r = 0.99)</a:t>
            </a:r>
          </a:p>
        </p:txBody>
      </p:sp>
    </p:spTree>
    <p:extLst>
      <p:ext uri="{BB962C8B-B14F-4D97-AF65-F5344CB8AC3E}">
        <p14:creationId xmlns:p14="http://schemas.microsoft.com/office/powerpoint/2010/main" val="1636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253D-3432-4687-24A4-584BF055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>
            <a:extLst>
              <a:ext uri="{FF2B5EF4-FFF2-40B4-BE49-F238E27FC236}">
                <a16:creationId xmlns:a16="http://schemas.microsoft.com/office/drawing/2014/main" id="{4A973EE2-A38C-72E5-38A2-7CE98E50C69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647825" y="47625"/>
            <a:ext cx="8896350" cy="67627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05DF02-5CE1-6EA5-E674-E346AA5A0805}"/>
              </a:ext>
            </a:extLst>
          </p:cNvPr>
          <p:cNvSpPr txBox="1"/>
          <p:nvPr/>
        </p:nvSpPr>
        <p:spPr>
          <a:xfrm>
            <a:off x="7229475" y="2305050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Good: </a:t>
            </a:r>
            <a:r>
              <a:rPr lang="en-US" dirty="0">
                <a:latin typeface="Aptos" panose="020B0004020202020204" pitchFamily="34" charset="0"/>
              </a:rPr>
              <a:t>73%, </a:t>
            </a:r>
            <a:r>
              <a:rPr lang="en-US" b="1" dirty="0">
                <a:latin typeface="Aptos" panose="020B0004020202020204" pitchFamily="34" charset="0"/>
              </a:rPr>
              <a:t>Adequate: </a:t>
            </a:r>
            <a:r>
              <a:rPr lang="en-US" dirty="0">
                <a:latin typeface="Aptos" panose="020B0004020202020204" pitchFamily="34" charset="0"/>
              </a:rPr>
              <a:t>84%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F101F-97C3-824F-FDE9-D82FF46F3742}"/>
              </a:ext>
            </a:extLst>
          </p:cNvPr>
          <p:cNvSpPr txBox="1"/>
          <p:nvPr/>
        </p:nvSpPr>
        <p:spPr>
          <a:xfrm>
            <a:off x="4152900" y="5019675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Good: </a:t>
            </a:r>
            <a:r>
              <a:rPr lang="en-US" dirty="0">
                <a:latin typeface="Aptos" panose="020B0004020202020204" pitchFamily="34" charset="0"/>
              </a:rPr>
              <a:t>40%, </a:t>
            </a:r>
            <a:r>
              <a:rPr lang="en-US" b="1" dirty="0">
                <a:latin typeface="Aptos" panose="020B0004020202020204" pitchFamily="34" charset="0"/>
              </a:rPr>
              <a:t>Adequate: </a:t>
            </a:r>
            <a:r>
              <a:rPr lang="en-US" dirty="0">
                <a:latin typeface="Aptos" panose="020B0004020202020204" pitchFamily="34" charset="0"/>
              </a:rPr>
              <a:t>48%</a:t>
            </a:r>
          </a:p>
        </p:txBody>
      </p:sp>
    </p:spTree>
    <p:extLst>
      <p:ext uri="{BB962C8B-B14F-4D97-AF65-F5344CB8AC3E}">
        <p14:creationId xmlns:p14="http://schemas.microsoft.com/office/powerpoint/2010/main" val="88232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A8A7-41FC-9D60-B47A-3A2D3162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A599DEEB-EDB2-D411-3BDC-7732AFB6B9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71450" y="504824"/>
            <a:ext cx="5762626" cy="45339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>
            <a:extLst>
              <a:ext uri="{FF2B5EF4-FFF2-40B4-BE49-F238E27FC236}">
                <a16:creationId xmlns:a16="http://schemas.microsoft.com/office/drawing/2014/main" id="{30BF5E4D-64F5-F00E-BBD3-39E18FB507A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6096000" y="504824"/>
            <a:ext cx="5762626" cy="45339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5CEA48-D3D4-E0BB-784A-5B1D27F1A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925301"/>
              </p:ext>
            </p:extLst>
          </p:nvPr>
        </p:nvGraphicFramePr>
        <p:xfrm>
          <a:off x="766988" y="5377816"/>
          <a:ext cx="45715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537">
                  <a:extLst>
                    <a:ext uri="{9D8B030D-6E8A-4147-A177-3AD203B41FA5}">
                      <a16:colId xmlns:a16="http://schemas.microsoft.com/office/drawing/2014/main" val="1150267106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444440644"/>
                    </a:ext>
                  </a:extLst>
                </a:gridCol>
                <a:gridCol w="1490438">
                  <a:extLst>
                    <a:ext uri="{9D8B030D-6E8A-4147-A177-3AD203B41FA5}">
                      <a16:colId xmlns:a16="http://schemas.microsoft.com/office/drawing/2014/main" val="187214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</a:rPr>
                        <a:t>Time Since Wake</a:t>
                      </a:r>
                      <a:endParaRPr lang="en-US" sz="1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</a:rPr>
                        <a:t>Mean Percent Change/30 min.</a:t>
                      </a:r>
                      <a:endParaRPr lang="en-US" sz="1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</a:rPr>
                        <a:t>95% CI</a:t>
                      </a:r>
                      <a:endParaRPr lang="en-US" sz="1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41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0-30 minutes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13.99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(-10.99, 45.98)</a:t>
                      </a:r>
                      <a:endParaRPr lang="en-US" sz="1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59690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After 30 minutes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-6.10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(-7.27, -4.92)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96513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C651F4-F477-78A7-284B-67B279F85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753378"/>
              </p:ext>
            </p:extLst>
          </p:nvPr>
        </p:nvGraphicFramePr>
        <p:xfrm>
          <a:off x="6691538" y="5377816"/>
          <a:ext cx="45715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537">
                  <a:extLst>
                    <a:ext uri="{9D8B030D-6E8A-4147-A177-3AD203B41FA5}">
                      <a16:colId xmlns:a16="http://schemas.microsoft.com/office/drawing/2014/main" val="1150267106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444440644"/>
                    </a:ext>
                  </a:extLst>
                </a:gridCol>
                <a:gridCol w="1490438">
                  <a:extLst>
                    <a:ext uri="{9D8B030D-6E8A-4147-A177-3AD203B41FA5}">
                      <a16:colId xmlns:a16="http://schemas.microsoft.com/office/drawing/2014/main" val="187214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</a:rPr>
                        <a:t>Time Since Wake</a:t>
                      </a:r>
                      <a:endParaRPr lang="en-US" sz="1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</a:rPr>
                        <a:t>Mean Percent Change/30 min.</a:t>
                      </a:r>
                      <a:endParaRPr lang="en-US" sz="1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b="1" dirty="0">
                          <a:effectLst/>
                          <a:latin typeface="Aptos" panose="020B0004020202020204" pitchFamily="34" charset="0"/>
                        </a:rPr>
                        <a:t>95% CI</a:t>
                      </a:r>
                      <a:endParaRPr lang="en-US" sz="18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41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0-30 minutes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-43.60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(-54.2, -30.55)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59690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After 30 minutes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-4.26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(-5.26, -3.24)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965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351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B86A-5CFF-69B6-AD7F-E05FBA2D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B804-FB00-861A-7547-3216773C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9336-E09E-B533-D9DB-1AEE53954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US" b="1" dirty="0">
                <a:latin typeface="Aptos" panose="020B0004020202020204" pitchFamily="34" charset="0"/>
              </a:rPr>
              <a:t>Strong internal consistency </a:t>
            </a:r>
            <a:r>
              <a:rPr lang="en-US" dirty="0">
                <a:latin typeface="Aptos" panose="020B0004020202020204" pitchFamily="34" charset="0"/>
              </a:rPr>
              <a:t>of timing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Booklet time preferable cap time</a:t>
            </a:r>
          </a:p>
          <a:p>
            <a:pPr marL="342900" indent="-342900">
              <a:buAutoNum type="arabicParenR"/>
            </a:pPr>
            <a:r>
              <a:rPr lang="en-US" b="1" dirty="0">
                <a:latin typeface="Aptos" panose="020B0004020202020204" pitchFamily="34" charset="0"/>
              </a:rPr>
              <a:t>Adherence lower for later time points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b="1" dirty="0">
                <a:latin typeface="Aptos" panose="020B0004020202020204" pitchFamily="34" charset="0"/>
              </a:rPr>
              <a:t>Cortisol spikes at 30 minutes </a:t>
            </a:r>
            <a:r>
              <a:rPr lang="en-US" dirty="0">
                <a:latin typeface="Aptos" panose="020B0004020202020204" pitchFamily="34" charset="0"/>
              </a:rPr>
              <a:t>then decreases steadily, </a:t>
            </a:r>
            <a:r>
              <a:rPr lang="en-US" b="1" dirty="0">
                <a:latin typeface="Aptos" panose="020B0004020202020204" pitchFamily="34" charset="0"/>
              </a:rPr>
              <a:t>DHEA decreases sharply after wake </a:t>
            </a:r>
            <a:r>
              <a:rPr lang="en-US" dirty="0">
                <a:latin typeface="Aptos" panose="020B0004020202020204" pitchFamily="34" charset="0"/>
              </a:rPr>
              <a:t>then decreases more steadily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r>
              <a:rPr lang="en-US" b="1" dirty="0">
                <a:latin typeface="Aptos" panose="020B0004020202020204" pitchFamily="34" charset="0"/>
              </a:rPr>
              <a:t>Limitations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Reporting bias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Serial correlation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Sample size, population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927014074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schemas.microsoft.com/sharepoint/v3"/>
    <ds:schemaRef ds:uri="http://purl.org/dc/terms/"/>
    <ds:schemaRef ds:uri="http://schemas.microsoft.com/office/2006/documentManagement/types"/>
    <ds:schemaRef ds:uri="230e9df3-be65-4c73-a93b-d1236ebd677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{2CA85A58-E873-4A41-8592-E968280228EE}0743cd2c-45be-4ec9-be1d-752c74c944b1-TFffbca3bb-2f91-4c96-94aa-cfcf1da3bf44eb66806c_win32</Template>
  <TotalTime>396</TotalTime>
  <Words>264</Words>
  <Application>Microsoft Office PowerPoint</Application>
  <PresentationFormat>Widescreen</PresentationFormat>
  <Paragraphs>49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Felix Titling</vt:lpstr>
      <vt:lpstr>Goudy Old Style</vt:lpstr>
      <vt:lpstr>Neutrals</vt:lpstr>
      <vt:lpstr>Evaluation of Saliva Procurement and Integrated Testing (SPIT) booklet in Measuring Cortisol and DHEA Levels</vt:lpstr>
      <vt:lpstr>Research Questions</vt:lpstr>
      <vt:lpstr>PowerPoint Presentation</vt:lpstr>
      <vt:lpstr>PowerPoint Presentation</vt:lpstr>
      <vt:lpstr>PowerPoint Presentation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 Roll</dc:creator>
  <cp:lastModifiedBy>Marshall Roll</cp:lastModifiedBy>
  <cp:revision>1</cp:revision>
  <dcterms:created xsi:type="dcterms:W3CDTF">2026-02-03T23:47:24Z</dcterms:created>
  <dcterms:modified xsi:type="dcterms:W3CDTF">2026-02-04T06:23:53Z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